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3"/>
  </p:notesMasterIdLst>
  <p:handoutMasterIdLst>
    <p:handoutMasterId r:id="rId14"/>
  </p:handoutMasterIdLst>
  <p:sldIdLst>
    <p:sldId id="298" r:id="rId4"/>
    <p:sldId id="283" r:id="rId5"/>
    <p:sldId id="297" r:id="rId6"/>
    <p:sldId id="292" r:id="rId7"/>
    <p:sldId id="299" r:id="rId8"/>
    <p:sldId id="284" r:id="rId9"/>
    <p:sldId id="293" r:id="rId10"/>
    <p:sldId id="295" r:id="rId11"/>
    <p:sldId id="296" r:id="rId12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574" autoAdjust="0"/>
  </p:normalViewPr>
  <p:slideViewPr>
    <p:cSldViewPr snapToGrid="0">
      <p:cViewPr varScale="1">
        <p:scale>
          <a:sx n="79" d="100"/>
          <a:sy n="79" d="100"/>
        </p:scale>
        <p:origin x="1099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0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0C787AE-A2C6-4A28-BCC7-4D89EB21DEE5}" type="datetime1">
              <a:rPr lang="es-ES" smtClean="0"/>
              <a:t>05/09/2026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BDA65D4-3BBC-4853-83D3-F449A9B7FDA5}" type="datetime1">
              <a:rPr lang="es-ES" noProof="0" smtClean="0"/>
              <a:t>05/09/2026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701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06624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6282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05243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07180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7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50067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8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897732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9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39131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l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70000"/>
              </a:lnSpc>
              <a:defRPr lang="en-ZA" sz="3800" b="1" spc="-300" dirty="0"/>
            </a:lvl1pPr>
          </a:lstStyle>
          <a:p>
            <a:pPr lvl="0" algn="r" rtl="0"/>
            <a:r>
              <a:rPr lang="es-ES" noProof="0" dirty="0"/>
              <a:t>Haga clic para editar el título de la presentación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visoria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</a:t>
            </a:r>
            <a:br>
              <a:rPr lang="es-ES" noProof="0"/>
            </a:br>
            <a:r>
              <a:rPr lang="es-ES" noProof="0"/>
              <a:t>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90000"/>
              </a:lnSpc>
              <a:defRPr lang="en-ZA" sz="3800" b="1" spc="-300" dirty="0"/>
            </a:lvl1pPr>
          </a:lstStyle>
          <a:p>
            <a:pPr lvl="0" algn="r" rtl="0"/>
            <a:r>
              <a:rPr lang="es-ES" noProof="0" dirty="0"/>
              <a:t>Haga clic para editar la línea divisoria de sección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visoria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</a:t>
            </a:r>
            <a:br>
              <a:rPr lang="es-ES" noProof="0"/>
            </a:br>
            <a:r>
              <a:rPr lang="es-ES" noProof="0"/>
              <a:t>su foto aquí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lnSpc>
                <a:spcPct val="8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noProof="0" dirty="0"/>
              <a:t>Haga clic para editar la línea divisoria de sección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la imagen del 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lnSpc>
                <a:spcPct val="7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Edite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la imagen del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lnSpc>
                <a:spcPct val="8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Haga clic para editar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mparación izquierdo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comparación izquierdo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8" name="Marcador de posición de texto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grafí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Escriba la leyenda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4400" b="1" spc="-300" dirty="0"/>
            </a:lvl1pPr>
          </a:lstStyle>
          <a:p>
            <a:pPr lvl="0" algn="r" rtl="0"/>
            <a:r>
              <a:rPr lang="es-ES" noProof="0"/>
              <a:t>Gracias</a:t>
            </a:r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 dirty="0"/>
              <a:t>Nombre completo</a:t>
            </a: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Número de teléfono</a:t>
            </a:r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Identificador de red social o correo electrónico</a:t>
            </a:r>
          </a:p>
        </p:txBody>
      </p:sp>
      <p:sp>
        <p:nvSpPr>
          <p:cNvPr id="12" name="Marcador de texto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Sitio web de la empresa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3" name="Marcador de texto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texto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4" name="Cuadro de texto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 rtl="0">
              <a:lnSpc>
                <a:spcPts val="1000"/>
              </a:lnSpc>
            </a:pPr>
            <a:r>
              <a:rPr lang="es-ES" sz="2500" b="1" i="0" spc="-100" noProof="0" dirty="0">
                <a:solidFill>
                  <a:schemeClr val="accent1"/>
                </a:solidFill>
                <a:latin typeface="+mj-lt"/>
              </a:rPr>
              <a:t>TREY</a:t>
            </a:r>
            <a:r>
              <a:rPr lang="es-ES" sz="1600" b="1" i="0" spc="-100" noProof="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es-ES" sz="1600" b="1" i="0" spc="-100" baseline="0" noProof="0" dirty="0">
                <a:solidFill>
                  <a:schemeClr val="accent1"/>
                </a:solidFill>
                <a:latin typeface="+mj-lt"/>
              </a:rPr>
            </a:br>
            <a:r>
              <a:rPr lang="es-ES" sz="1200" b="0" i="0" spc="14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917587"/>
            <a:ext cx="8991600" cy="1261295"/>
          </a:xfrm>
        </p:spPr>
        <p:txBody>
          <a:bodyPr rtlCol="0"/>
          <a:lstStyle/>
          <a:p>
            <a:pPr rtl="0"/>
            <a:r>
              <a:rPr lang="es-ES" sz="5200" dirty="0"/>
              <a:t>Sistema de Gestión de Proyectos  para Vinculación con el Medio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1812" y="4715514"/>
            <a:ext cx="6580188" cy="1361195"/>
          </a:xfrm>
        </p:spPr>
        <p:txBody>
          <a:bodyPr rtlCol="0"/>
          <a:lstStyle/>
          <a:p>
            <a:pPr algn="l" rtl="0"/>
            <a:r>
              <a:rPr lang="es-ES" b="1" dirty="0"/>
              <a:t>Integrantes: </a:t>
            </a:r>
            <a:r>
              <a:rPr lang="es-ES" dirty="0"/>
              <a:t>Israel Del Pino - Rocío Rodríguez - Pablo Sepúlveda</a:t>
            </a:r>
          </a:p>
          <a:p>
            <a:pPr algn="l" rtl="0"/>
            <a:r>
              <a:rPr lang="es-ES" b="1" dirty="0"/>
              <a:t>Docentes: </a:t>
            </a:r>
            <a:r>
              <a:rPr lang="es-ES" dirty="0"/>
              <a:t>Juan Pablo Mellado y </a:t>
            </a:r>
            <a:r>
              <a:rPr lang="es-ES" dirty="0" err="1"/>
              <a:t>Jazna</a:t>
            </a:r>
            <a:r>
              <a:rPr lang="es-ES" dirty="0"/>
              <a:t> Meza Hidalgo</a:t>
            </a:r>
          </a:p>
          <a:p>
            <a:pPr algn="l" rtl="0"/>
            <a:r>
              <a:rPr lang="es-ES" b="1" dirty="0"/>
              <a:t>Asignatura: </a:t>
            </a:r>
            <a:r>
              <a:rPr lang="es-ES" dirty="0" err="1"/>
              <a:t>Capstone</a:t>
            </a:r>
            <a:r>
              <a:rPr lang="es-ES" dirty="0"/>
              <a:t> </a:t>
            </a:r>
          </a:p>
        </p:txBody>
      </p:sp>
      <p:sp>
        <p:nvSpPr>
          <p:cNvPr id="7" name="Google Shape;68;p1">
            <a:extLst>
              <a:ext uri="{FF2B5EF4-FFF2-40B4-BE49-F238E27FC236}">
                <a16:creationId xmlns:a16="http://schemas.microsoft.com/office/drawing/2014/main" id="{125EB87D-268E-C78C-528A-3F3BBB462DF5}"/>
              </a:ext>
            </a:extLst>
          </p:cNvPr>
          <p:cNvSpPr/>
          <p:nvPr/>
        </p:nvSpPr>
        <p:spPr>
          <a:xfrm>
            <a:off x="5308013" y="6413990"/>
            <a:ext cx="3246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A75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5E6A75"/>
                </a:solidFill>
              </a:rPr>
              <a:t>Concepción</a:t>
            </a:r>
            <a:r>
              <a:rPr lang="en-US" sz="1200" b="0" i="0" u="none" strike="noStrike" cap="none" dirty="0">
                <a:solidFill>
                  <a:srgbClr val="5E6A75"/>
                </a:solidFill>
                <a:latin typeface="Arial"/>
                <a:ea typeface="Arial"/>
                <a:cs typeface="Arial"/>
                <a:sym typeface="Arial"/>
              </a:rPr>
              <a:t> | 7 de </a:t>
            </a:r>
            <a:r>
              <a:rPr lang="en-US" sz="1200" dirty="0" err="1">
                <a:solidFill>
                  <a:srgbClr val="5E6A75"/>
                </a:solidFill>
              </a:rPr>
              <a:t>septiembre</a:t>
            </a:r>
            <a:r>
              <a:rPr lang="en-US" sz="1200" dirty="0">
                <a:solidFill>
                  <a:srgbClr val="5E6A75"/>
                </a:solidFill>
              </a:rPr>
              <a:t> de </a:t>
            </a:r>
            <a:r>
              <a:rPr lang="en-US" sz="1200" b="0" i="0" u="none" strike="noStrike" cap="none" dirty="0">
                <a:solidFill>
                  <a:srgbClr val="5E6A75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7FFDA0BC-8BB7-CE9B-3FD0-F5B5EC8AEC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500" y="186275"/>
            <a:ext cx="4572000" cy="1143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3246843-29D6-190B-0058-C91C7F032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251290" cy="680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24683" y="2434358"/>
            <a:ext cx="5472000" cy="1332445"/>
          </a:xfrm>
        </p:spPr>
        <p:txBody>
          <a:bodyPr rtlCol="0"/>
          <a:lstStyle/>
          <a:p>
            <a:pPr algn="just"/>
            <a:r>
              <a:rPr lang="es-CL" dirty="0"/>
              <a:t>Una plataforma que soluciona la </a:t>
            </a:r>
            <a:r>
              <a:rPr lang="es-CL" b="1" dirty="0"/>
              <a:t>dispersión y falta de trazabilidad de la información de los proyectos VCM</a:t>
            </a:r>
            <a:r>
              <a:rPr lang="es-CL" dirty="0"/>
              <a:t>, centralizando en un solo sistema su registro, ejecución y seguimiento por proyecto, sede, sección, docente y estudiante.</a:t>
            </a:r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263" y="781712"/>
            <a:ext cx="3229337" cy="620808"/>
          </a:xfrm>
        </p:spPr>
        <p:txBody>
          <a:bodyPr rtlCol="0"/>
          <a:lstStyle/>
          <a:p>
            <a:pPr algn="ctr" rtl="0"/>
            <a:r>
              <a:rPr lang="es-ES" sz="5200" dirty="0"/>
              <a:t>Problema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798461" y="510716"/>
            <a:ext cx="6087475" cy="1162800"/>
          </a:xfrm>
        </p:spPr>
        <p:txBody>
          <a:bodyPr rtlCol="0"/>
          <a:lstStyle/>
          <a:p>
            <a:pPr algn="l"/>
            <a:r>
              <a:rPr lang="es-CL" dirty="0"/>
              <a:t>La gestión manual y dispersa de los proyectos VCM dificulta su seguimiento, genera errores y reduce la trazabilidad de la información.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2</a:t>
            </a:fld>
            <a:endParaRPr lang="es-ES"/>
          </a:p>
        </p:txBody>
      </p:sp>
      <p:pic>
        <p:nvPicPr>
          <p:cNvPr id="11" name="Google Shape;70;p1">
            <a:extLst>
              <a:ext uri="{FF2B5EF4-FFF2-40B4-BE49-F238E27FC236}">
                <a16:creationId xmlns:a16="http://schemas.microsoft.com/office/drawing/2014/main" id="{E071E7F5-74CE-D7E5-FD06-6DD060321B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3367" y="6204030"/>
            <a:ext cx="2326633" cy="65396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E02E2EF3-4BE1-406C-0FA5-8D5D8FD54887}"/>
              </a:ext>
            </a:extLst>
          </p:cNvPr>
          <p:cNvSpPr txBox="1">
            <a:spLocks/>
          </p:cNvSpPr>
          <p:nvPr/>
        </p:nvSpPr>
        <p:spPr>
          <a:xfrm>
            <a:off x="138952" y="2729427"/>
            <a:ext cx="4457298" cy="969698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180000" rIns="180000" bIns="180000" rtlCol="0" anchor="ctr">
            <a:noAutofit/>
          </a:bodyPr>
          <a:lstStyle>
            <a:lvl1pPr algn="r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800" b="1" kern="1200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4000" dirty="0"/>
              <a:t>Propuesta de solución</a:t>
            </a:r>
          </a:p>
        </p:txBody>
      </p:sp>
      <p:sp>
        <p:nvSpPr>
          <p:cNvPr id="64" name="Google Shape;109;p3">
            <a:extLst>
              <a:ext uri="{FF2B5EF4-FFF2-40B4-BE49-F238E27FC236}">
                <a16:creationId xmlns:a16="http://schemas.microsoft.com/office/drawing/2014/main" id="{92D1AF01-2EBB-2ADE-A522-5DC16EA8DF08}"/>
              </a:ext>
            </a:extLst>
          </p:cNvPr>
          <p:cNvSpPr/>
          <p:nvPr/>
        </p:nvSpPr>
        <p:spPr>
          <a:xfrm>
            <a:off x="813121" y="4578352"/>
            <a:ext cx="1508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 cap="flat" cmpd="sng">
            <a:solidFill>
              <a:srgbClr val="2C71D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110;p3">
            <a:extLst>
              <a:ext uri="{FF2B5EF4-FFF2-40B4-BE49-F238E27FC236}">
                <a16:creationId xmlns:a16="http://schemas.microsoft.com/office/drawing/2014/main" id="{07017D5B-2281-E053-C83A-10370252A39F}"/>
              </a:ext>
            </a:extLst>
          </p:cNvPr>
          <p:cNvSpPr/>
          <p:nvPr/>
        </p:nvSpPr>
        <p:spPr>
          <a:xfrm>
            <a:off x="922849" y="4697224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71D2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C71D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111;p3">
            <a:extLst>
              <a:ext uri="{FF2B5EF4-FFF2-40B4-BE49-F238E27FC236}">
                <a16:creationId xmlns:a16="http://schemas.microsoft.com/office/drawing/2014/main" id="{F81DEC1E-1647-C487-A571-5F7DEE11DC5A}"/>
              </a:ext>
            </a:extLst>
          </p:cNvPr>
          <p:cNvSpPr/>
          <p:nvPr/>
        </p:nvSpPr>
        <p:spPr>
          <a:xfrm>
            <a:off x="922849" y="4825240"/>
            <a:ext cx="126187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42"/>
              </a:buClr>
              <a:buSzPts val="123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243342"/>
                </a:solidFill>
                <a:ea typeface="Times New Roman"/>
                <a:cs typeface="Times New Roman"/>
                <a:sym typeface="Times New Roman"/>
              </a:rPr>
              <a:t>Datos</a:t>
            </a:r>
            <a:endParaRPr sz="1600" i="0" u="none" strike="noStrike" cap="none" dirty="0">
              <a:solidFill>
                <a:schemeClr val="dk1"/>
              </a:solidFill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42"/>
              </a:buClr>
              <a:buSzPts val="123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243342"/>
                </a:solidFill>
                <a:ea typeface="Times New Roman"/>
                <a:cs typeface="Times New Roman"/>
                <a:sym typeface="Times New Roman"/>
              </a:rPr>
              <a:t>académicos</a:t>
            </a:r>
            <a:endParaRPr sz="1600" i="0" u="none" strike="noStrike" cap="none" dirty="0">
              <a:solidFill>
                <a:schemeClr val="dk1"/>
              </a:solidFill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112;p3">
            <a:extLst>
              <a:ext uri="{FF2B5EF4-FFF2-40B4-BE49-F238E27FC236}">
                <a16:creationId xmlns:a16="http://schemas.microsoft.com/office/drawing/2014/main" id="{93AE2466-5949-6DC8-A22D-D1CCBB9DDD73}"/>
              </a:ext>
            </a:extLst>
          </p:cNvPr>
          <p:cNvSpPr/>
          <p:nvPr/>
        </p:nvSpPr>
        <p:spPr>
          <a:xfrm>
            <a:off x="2367601" y="4907536"/>
            <a:ext cx="228600" cy="347472"/>
          </a:xfrm>
          <a:prstGeom prst="chevron">
            <a:avLst>
              <a:gd name="adj" fmla="val 50000"/>
            </a:avLst>
          </a:prstGeom>
          <a:solidFill>
            <a:srgbClr val="EEF3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113;p3">
            <a:extLst>
              <a:ext uri="{FF2B5EF4-FFF2-40B4-BE49-F238E27FC236}">
                <a16:creationId xmlns:a16="http://schemas.microsoft.com/office/drawing/2014/main" id="{6B90D7DA-C254-20B3-379C-C21F6AEC4E8D}"/>
              </a:ext>
            </a:extLst>
          </p:cNvPr>
          <p:cNvSpPr/>
          <p:nvPr/>
        </p:nvSpPr>
        <p:spPr>
          <a:xfrm>
            <a:off x="2641921" y="4578352"/>
            <a:ext cx="1508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 cap="flat" cmpd="sng">
            <a:solidFill>
              <a:srgbClr val="008C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114;p3">
            <a:extLst>
              <a:ext uri="{FF2B5EF4-FFF2-40B4-BE49-F238E27FC236}">
                <a16:creationId xmlns:a16="http://schemas.microsoft.com/office/drawing/2014/main" id="{35622499-9D1A-D539-8A63-8E0466F3CB5A}"/>
              </a:ext>
            </a:extLst>
          </p:cNvPr>
          <p:cNvSpPr/>
          <p:nvPr/>
        </p:nvSpPr>
        <p:spPr>
          <a:xfrm>
            <a:off x="2751649" y="4697224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9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8C9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115;p3">
            <a:extLst>
              <a:ext uri="{FF2B5EF4-FFF2-40B4-BE49-F238E27FC236}">
                <a16:creationId xmlns:a16="http://schemas.microsoft.com/office/drawing/2014/main" id="{C7E3639D-6CE8-DEB9-60F8-379B5CF5AFD0}"/>
              </a:ext>
            </a:extLst>
          </p:cNvPr>
          <p:cNvSpPr/>
          <p:nvPr/>
        </p:nvSpPr>
        <p:spPr>
          <a:xfrm>
            <a:off x="3053401" y="482524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42"/>
              </a:buClr>
              <a:buSzPts val="123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243342"/>
                </a:solidFill>
                <a:ea typeface="Times New Roman"/>
                <a:cs typeface="Times New Roman"/>
                <a:sym typeface="Times New Roman"/>
              </a:rPr>
              <a:t>Propuesta</a:t>
            </a:r>
            <a:endParaRPr sz="1600" i="0" u="none" strike="noStrike" cap="none" dirty="0">
              <a:solidFill>
                <a:schemeClr val="dk1"/>
              </a:solidFill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42"/>
              </a:buClr>
              <a:buSzPts val="123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243342"/>
                </a:solidFill>
                <a:ea typeface="Times New Roman"/>
                <a:cs typeface="Times New Roman"/>
                <a:sym typeface="Times New Roman"/>
              </a:rPr>
              <a:t>VCM</a:t>
            </a:r>
            <a:endParaRPr sz="1600" i="0" u="none" strike="noStrike" cap="none" dirty="0">
              <a:solidFill>
                <a:schemeClr val="dk1"/>
              </a:solidFill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116;p3">
            <a:extLst>
              <a:ext uri="{FF2B5EF4-FFF2-40B4-BE49-F238E27FC236}">
                <a16:creationId xmlns:a16="http://schemas.microsoft.com/office/drawing/2014/main" id="{CC7EC0D3-668E-4FA5-29B6-B9847965724C}"/>
              </a:ext>
            </a:extLst>
          </p:cNvPr>
          <p:cNvSpPr/>
          <p:nvPr/>
        </p:nvSpPr>
        <p:spPr>
          <a:xfrm>
            <a:off x="4196401" y="4907536"/>
            <a:ext cx="228600" cy="347472"/>
          </a:xfrm>
          <a:prstGeom prst="chevron">
            <a:avLst>
              <a:gd name="adj" fmla="val 50000"/>
            </a:avLst>
          </a:prstGeom>
          <a:solidFill>
            <a:srgbClr val="EEF3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117;p3">
            <a:extLst>
              <a:ext uri="{FF2B5EF4-FFF2-40B4-BE49-F238E27FC236}">
                <a16:creationId xmlns:a16="http://schemas.microsoft.com/office/drawing/2014/main" id="{B15010B7-73AD-7DDB-E120-CAABB013FC66}"/>
              </a:ext>
            </a:extLst>
          </p:cNvPr>
          <p:cNvSpPr/>
          <p:nvPr/>
        </p:nvSpPr>
        <p:spPr>
          <a:xfrm>
            <a:off x="4470721" y="4578352"/>
            <a:ext cx="1508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 cap="flat" cmpd="sng">
            <a:solidFill>
              <a:srgbClr val="1C9A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118;p3">
            <a:extLst>
              <a:ext uri="{FF2B5EF4-FFF2-40B4-BE49-F238E27FC236}">
                <a16:creationId xmlns:a16="http://schemas.microsoft.com/office/drawing/2014/main" id="{82790667-AF8E-8CC6-EB2E-B81540523140}"/>
              </a:ext>
            </a:extLst>
          </p:cNvPr>
          <p:cNvSpPr/>
          <p:nvPr/>
        </p:nvSpPr>
        <p:spPr>
          <a:xfrm>
            <a:off x="4580449" y="4697224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9A74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C9A7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119;p3">
            <a:extLst>
              <a:ext uri="{FF2B5EF4-FFF2-40B4-BE49-F238E27FC236}">
                <a16:creationId xmlns:a16="http://schemas.microsoft.com/office/drawing/2014/main" id="{91505D42-7F99-7EA5-E716-BD0F76FB4009}"/>
              </a:ext>
            </a:extLst>
          </p:cNvPr>
          <p:cNvSpPr/>
          <p:nvPr/>
        </p:nvSpPr>
        <p:spPr>
          <a:xfrm>
            <a:off x="4745041" y="4825240"/>
            <a:ext cx="1097280" cy="49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42"/>
              </a:buClr>
              <a:buSzPts val="123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243342"/>
                </a:solidFill>
                <a:ea typeface="Times New Roman"/>
                <a:cs typeface="Times New Roman"/>
                <a:sym typeface="Times New Roman"/>
              </a:rPr>
              <a:t>Secciones</a:t>
            </a:r>
            <a:endParaRPr sz="1600" i="0" u="none" strike="noStrike" cap="none" dirty="0">
              <a:solidFill>
                <a:schemeClr val="dk1"/>
              </a:solidFill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42"/>
              </a:buClr>
              <a:buSzPts val="123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243342"/>
                </a:solidFill>
                <a:ea typeface="Times New Roman"/>
                <a:cs typeface="Times New Roman"/>
                <a:sym typeface="Times New Roman"/>
              </a:rPr>
              <a:t>vinculadas</a:t>
            </a:r>
            <a:endParaRPr sz="1600" i="0" u="none" strike="noStrike" cap="none" dirty="0">
              <a:solidFill>
                <a:schemeClr val="dk1"/>
              </a:solidFill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120;p3">
            <a:extLst>
              <a:ext uri="{FF2B5EF4-FFF2-40B4-BE49-F238E27FC236}">
                <a16:creationId xmlns:a16="http://schemas.microsoft.com/office/drawing/2014/main" id="{CADC0CF2-6B9D-6FAC-193F-27CBEE998A11}"/>
              </a:ext>
            </a:extLst>
          </p:cNvPr>
          <p:cNvSpPr/>
          <p:nvPr/>
        </p:nvSpPr>
        <p:spPr>
          <a:xfrm>
            <a:off x="6025201" y="4907536"/>
            <a:ext cx="228600" cy="347472"/>
          </a:xfrm>
          <a:prstGeom prst="chevron">
            <a:avLst>
              <a:gd name="adj" fmla="val 50000"/>
            </a:avLst>
          </a:prstGeom>
          <a:solidFill>
            <a:srgbClr val="EEF3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121;p3">
            <a:extLst>
              <a:ext uri="{FF2B5EF4-FFF2-40B4-BE49-F238E27FC236}">
                <a16:creationId xmlns:a16="http://schemas.microsoft.com/office/drawing/2014/main" id="{3704547C-1FF5-2FFE-EA1B-27C5475F9201}"/>
              </a:ext>
            </a:extLst>
          </p:cNvPr>
          <p:cNvSpPr/>
          <p:nvPr/>
        </p:nvSpPr>
        <p:spPr>
          <a:xfrm>
            <a:off x="6299521" y="4578352"/>
            <a:ext cx="1508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122;p3">
            <a:extLst>
              <a:ext uri="{FF2B5EF4-FFF2-40B4-BE49-F238E27FC236}">
                <a16:creationId xmlns:a16="http://schemas.microsoft.com/office/drawing/2014/main" id="{E3C9DC50-4828-955E-7E98-1A7D91E5F791}"/>
              </a:ext>
            </a:extLst>
          </p:cNvPr>
          <p:cNvSpPr/>
          <p:nvPr/>
        </p:nvSpPr>
        <p:spPr>
          <a:xfrm>
            <a:off x="6409249" y="4697224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123;p3">
            <a:extLst>
              <a:ext uri="{FF2B5EF4-FFF2-40B4-BE49-F238E27FC236}">
                <a16:creationId xmlns:a16="http://schemas.microsoft.com/office/drawing/2014/main" id="{E33EB1FE-FDD5-2B4C-08DE-A5FC46C1D34D}"/>
              </a:ext>
            </a:extLst>
          </p:cNvPr>
          <p:cNvSpPr/>
          <p:nvPr/>
        </p:nvSpPr>
        <p:spPr>
          <a:xfrm>
            <a:off x="6573841" y="4834384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42"/>
              </a:buClr>
              <a:buSzPts val="123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243342"/>
                </a:solidFill>
                <a:ea typeface="Times New Roman"/>
                <a:cs typeface="Times New Roman"/>
                <a:sym typeface="Times New Roman"/>
              </a:rPr>
              <a:t>Equipos</a:t>
            </a:r>
            <a:endParaRPr sz="1600" i="0" u="none" strike="noStrike" cap="none" dirty="0">
              <a:solidFill>
                <a:schemeClr val="dk1"/>
              </a:solidFill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42"/>
              </a:buClr>
              <a:buSzPts val="123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243342"/>
                </a:solidFill>
                <a:ea typeface="Times New Roman"/>
                <a:cs typeface="Times New Roman"/>
                <a:sym typeface="Times New Roman"/>
              </a:rPr>
              <a:t>e </a:t>
            </a:r>
            <a:r>
              <a:rPr lang="en-US" sz="1600" b="1" i="0" u="none" strike="noStrike" cap="none" dirty="0" err="1">
                <a:solidFill>
                  <a:srgbClr val="243342"/>
                </a:solidFill>
                <a:ea typeface="Times New Roman"/>
                <a:cs typeface="Times New Roman"/>
                <a:sym typeface="Times New Roman"/>
              </a:rPr>
              <a:t>hitos</a:t>
            </a:r>
            <a:endParaRPr sz="1600" i="0" u="none" strike="noStrike" cap="none" dirty="0">
              <a:solidFill>
                <a:schemeClr val="dk1"/>
              </a:solidFill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124;p3">
            <a:extLst>
              <a:ext uri="{FF2B5EF4-FFF2-40B4-BE49-F238E27FC236}">
                <a16:creationId xmlns:a16="http://schemas.microsoft.com/office/drawing/2014/main" id="{04CF8B4F-DC9E-F47D-F77B-836A59B5DC8B}"/>
              </a:ext>
            </a:extLst>
          </p:cNvPr>
          <p:cNvSpPr/>
          <p:nvPr/>
        </p:nvSpPr>
        <p:spPr>
          <a:xfrm>
            <a:off x="7854001" y="4907536"/>
            <a:ext cx="228600" cy="347472"/>
          </a:xfrm>
          <a:prstGeom prst="chevron">
            <a:avLst>
              <a:gd name="adj" fmla="val 50000"/>
            </a:avLst>
          </a:prstGeom>
          <a:solidFill>
            <a:srgbClr val="EEF3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125;p3">
            <a:extLst>
              <a:ext uri="{FF2B5EF4-FFF2-40B4-BE49-F238E27FC236}">
                <a16:creationId xmlns:a16="http://schemas.microsoft.com/office/drawing/2014/main" id="{2B52E0C4-5983-6461-AD07-DD9A38A6395B}"/>
              </a:ext>
            </a:extLst>
          </p:cNvPr>
          <p:cNvSpPr/>
          <p:nvPr/>
        </p:nvSpPr>
        <p:spPr>
          <a:xfrm>
            <a:off x="8128321" y="4578352"/>
            <a:ext cx="1508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 cap="flat" cmpd="sng">
            <a:solidFill>
              <a:srgbClr val="7057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126;p3">
            <a:extLst>
              <a:ext uri="{FF2B5EF4-FFF2-40B4-BE49-F238E27FC236}">
                <a16:creationId xmlns:a16="http://schemas.microsoft.com/office/drawing/2014/main" id="{B04DF6AE-1804-B479-455A-F526F0D79780}"/>
              </a:ext>
            </a:extLst>
          </p:cNvPr>
          <p:cNvSpPr/>
          <p:nvPr/>
        </p:nvSpPr>
        <p:spPr>
          <a:xfrm>
            <a:off x="8238049" y="4697224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57C8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7057C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27;p3">
            <a:extLst>
              <a:ext uri="{FF2B5EF4-FFF2-40B4-BE49-F238E27FC236}">
                <a16:creationId xmlns:a16="http://schemas.microsoft.com/office/drawing/2014/main" id="{019A1F6F-A375-7C02-CDAF-5D57AA78E0CA}"/>
              </a:ext>
            </a:extLst>
          </p:cNvPr>
          <p:cNvSpPr/>
          <p:nvPr/>
        </p:nvSpPr>
        <p:spPr>
          <a:xfrm>
            <a:off x="8473247" y="4838704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42"/>
              </a:buClr>
              <a:buSzPts val="123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243342"/>
                </a:solidFill>
                <a:ea typeface="Times New Roman"/>
                <a:cs typeface="Times New Roman"/>
                <a:sym typeface="Times New Roman"/>
              </a:rPr>
              <a:t>Evidencias</a:t>
            </a:r>
            <a:endParaRPr sz="1600" i="0" u="none" strike="noStrike" cap="none" dirty="0">
              <a:solidFill>
                <a:schemeClr val="dk1"/>
              </a:solidFill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42"/>
              </a:buClr>
              <a:buSzPts val="123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243342"/>
                </a:solidFill>
                <a:ea typeface="Times New Roman"/>
                <a:cs typeface="Times New Roman"/>
                <a:sym typeface="Times New Roman"/>
              </a:rPr>
              <a:t>y </a:t>
            </a:r>
            <a:r>
              <a:rPr lang="en-US" sz="1600" b="1" i="0" u="none" strike="noStrike" cap="none" dirty="0" err="1">
                <a:solidFill>
                  <a:srgbClr val="243342"/>
                </a:solidFill>
                <a:ea typeface="Times New Roman"/>
                <a:cs typeface="Times New Roman"/>
                <a:sym typeface="Times New Roman"/>
              </a:rPr>
              <a:t>cierre</a:t>
            </a:r>
            <a:endParaRPr sz="1600" i="0" u="none" strike="noStrike" cap="none" dirty="0">
              <a:solidFill>
                <a:schemeClr val="dk1"/>
              </a:solidFill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28;p3">
            <a:extLst>
              <a:ext uri="{FF2B5EF4-FFF2-40B4-BE49-F238E27FC236}">
                <a16:creationId xmlns:a16="http://schemas.microsoft.com/office/drawing/2014/main" id="{4CA95ED2-4A95-B4DF-4702-709DCFFFED81}"/>
              </a:ext>
            </a:extLst>
          </p:cNvPr>
          <p:cNvSpPr/>
          <p:nvPr/>
        </p:nvSpPr>
        <p:spPr>
          <a:xfrm>
            <a:off x="9682801" y="4907536"/>
            <a:ext cx="228600" cy="347472"/>
          </a:xfrm>
          <a:prstGeom prst="chevron">
            <a:avLst>
              <a:gd name="adj" fmla="val 50000"/>
            </a:avLst>
          </a:prstGeom>
          <a:solidFill>
            <a:srgbClr val="EEF3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29;p3">
            <a:extLst>
              <a:ext uri="{FF2B5EF4-FFF2-40B4-BE49-F238E27FC236}">
                <a16:creationId xmlns:a16="http://schemas.microsoft.com/office/drawing/2014/main" id="{1F5ACD78-F8DE-4682-560E-17DB134728CE}"/>
              </a:ext>
            </a:extLst>
          </p:cNvPr>
          <p:cNvSpPr/>
          <p:nvPr/>
        </p:nvSpPr>
        <p:spPr>
          <a:xfrm>
            <a:off x="9957121" y="4578352"/>
            <a:ext cx="1508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30;p3">
            <a:extLst>
              <a:ext uri="{FF2B5EF4-FFF2-40B4-BE49-F238E27FC236}">
                <a16:creationId xmlns:a16="http://schemas.microsoft.com/office/drawing/2014/main" id="{58BB15CE-881F-4EB6-72A8-D73EC3DB14D1}"/>
              </a:ext>
            </a:extLst>
          </p:cNvPr>
          <p:cNvSpPr/>
          <p:nvPr/>
        </p:nvSpPr>
        <p:spPr>
          <a:xfrm>
            <a:off x="10066849" y="4697224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31;p3">
            <a:extLst>
              <a:ext uri="{FF2B5EF4-FFF2-40B4-BE49-F238E27FC236}">
                <a16:creationId xmlns:a16="http://schemas.microsoft.com/office/drawing/2014/main" id="{64EF94B8-6917-1B4B-8F80-A8B81E0CF213}"/>
              </a:ext>
            </a:extLst>
          </p:cNvPr>
          <p:cNvSpPr/>
          <p:nvPr/>
        </p:nvSpPr>
        <p:spPr>
          <a:xfrm>
            <a:off x="10274621" y="4898392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42"/>
              </a:buClr>
              <a:buSzPts val="123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243342"/>
                </a:solidFill>
                <a:ea typeface="Times New Roman"/>
                <a:cs typeface="Times New Roman"/>
                <a:sym typeface="Times New Roman"/>
              </a:rPr>
              <a:t>Reportes</a:t>
            </a:r>
            <a:endParaRPr sz="1600" i="0" u="none" strike="noStrike" cap="none" dirty="0">
              <a:solidFill>
                <a:schemeClr val="dk1"/>
              </a:solidFill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Marcador de posición de imagen 13" descr="Una persona que escribe una nota a mano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5118021" cy="6371351"/>
          </a:xfrm>
        </p:spPr>
      </p:pic>
      <p:sp>
        <p:nvSpPr>
          <p:cNvPr id="20" name="Rectángulo 19" descr="Bloque de énfasis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060" y="641273"/>
            <a:ext cx="6641900" cy="1124345"/>
          </a:xfrm>
          <a:solidFill>
            <a:schemeClr val="accent1">
              <a:lumMod val="40000"/>
              <a:lumOff val="60000"/>
            </a:schemeClr>
          </a:solidFill>
        </p:spPr>
        <p:txBody>
          <a:bodyPr rtlCol="0"/>
          <a:lstStyle/>
          <a:p>
            <a:pPr rtl="0"/>
            <a:r>
              <a:rPr lang="es-ES" sz="5200" dirty="0"/>
              <a:t>Objetivo general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18334" y="1876893"/>
            <a:ext cx="6641626" cy="752548"/>
          </a:xfrm>
        </p:spPr>
        <p:txBody>
          <a:bodyPr rtlCol="0"/>
          <a:lstStyle/>
          <a:p>
            <a:pPr rtl="0"/>
            <a:r>
              <a:rPr lang="es-ES" dirty="0"/>
              <a:t>Desarrollar una plataforma web que digitalice la gestión de proyectos de Vinculación con el Medio.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26354" y="2740716"/>
            <a:ext cx="6533606" cy="3815727"/>
          </a:xfrm>
          <a:ln>
            <a:solidFill>
              <a:schemeClr val="accent1"/>
            </a:solidFill>
          </a:ln>
        </p:spPr>
        <p:txBody>
          <a:bodyPr rtlCol="0"/>
          <a:lstStyle/>
          <a:p>
            <a:pPr marL="0" indent="0" rtl="0">
              <a:buNone/>
            </a:pPr>
            <a:r>
              <a:rPr lang="es-ES" sz="2800" dirty="0">
                <a:highlight>
                  <a:srgbClr val="00FFFF"/>
                </a:highlight>
              </a:rPr>
              <a:t>Objetivos específicos </a:t>
            </a:r>
            <a:r>
              <a:rPr lang="es-ES" sz="2800" dirty="0">
                <a:highlight>
                  <a:srgbClr val="00FFFF"/>
                </a:highlight>
                <a:sym typeface="Wingdings" panose="05000000000000000000" pitchFamily="2" charset="2"/>
              </a:rPr>
              <a:t></a:t>
            </a:r>
            <a:endParaRPr lang="es-ES" sz="2800" dirty="0">
              <a:highlight>
                <a:srgbClr val="00FFFF"/>
              </a:highlight>
            </a:endParaRPr>
          </a:p>
          <a:p>
            <a:pPr lvl="0"/>
            <a:r>
              <a:rPr lang="es-CL" sz="1600" b="1" dirty="0"/>
              <a:t>Consolidar en el sistema al menos el 95 % de los proyectos definidos para su implementación</a:t>
            </a:r>
            <a:r>
              <a:rPr lang="es-CL" sz="1600" dirty="0"/>
              <a:t>, manteniendo completos y consistentes sus datos de socio formador, asignatura, sede y secciones asociadas, a más tardar durante el tercer mes.</a:t>
            </a:r>
          </a:p>
          <a:p>
            <a:pPr lvl="0"/>
            <a:r>
              <a:rPr lang="es-CL" sz="1600" b="1" dirty="0"/>
              <a:t>Disminuir en al menos un 30 % el tiempo promedio empleado por los usuarios responsables para registrar y dejar disponible una propuesta</a:t>
            </a:r>
            <a:r>
              <a:rPr lang="es-CL" sz="1600" dirty="0"/>
              <a:t>, en comparación con el procedimiento anterior a la implementación del sistema, al finalizar el tercer mes.</a:t>
            </a:r>
          </a:p>
          <a:p>
            <a:pPr lvl="0"/>
            <a:r>
              <a:rPr lang="es-CL" sz="1600" b="1" dirty="0"/>
              <a:t>Alcanzar una trazabilidad verificable del estado de avance en al menos el 90 % de las secciones gestionadas mediante el sistema</a:t>
            </a:r>
            <a:r>
              <a:rPr lang="es-CL" sz="1600" dirty="0"/>
              <a:t>, considerando sus hitos, estados y evidencias registradas, durante el cuarto mes.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3</a:t>
            </a:fld>
            <a:endParaRPr lang="es-ES"/>
          </a:p>
        </p:txBody>
      </p:sp>
      <p:pic>
        <p:nvPicPr>
          <p:cNvPr id="7" name="Google Shape;70;p1">
            <a:extLst>
              <a:ext uri="{FF2B5EF4-FFF2-40B4-BE49-F238E27FC236}">
                <a16:creationId xmlns:a16="http://schemas.microsoft.com/office/drawing/2014/main" id="{A03CE090-3668-D0EF-3E51-008F60B19C0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3367" y="6204030"/>
            <a:ext cx="2326633" cy="65396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ción de imagen 10" descr="Escritorio con un ordenador, un teléfono, libros, etc.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1412" y="607486"/>
            <a:ext cx="7157013" cy="1224208"/>
          </a:xfrm>
        </p:spPr>
        <p:txBody>
          <a:bodyPr rtlCol="0"/>
          <a:lstStyle/>
          <a:p>
            <a:pPr algn="ctr" rtl="0"/>
            <a:r>
              <a:rPr lang="es-ES" sz="5200" dirty="0"/>
              <a:t>Alcances y limitaciones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9700" y="2085110"/>
            <a:ext cx="5956300" cy="4003174"/>
          </a:xfrm>
          <a:solidFill>
            <a:schemeClr val="accent3">
              <a:lumMod val="50000"/>
              <a:alpha val="80000"/>
            </a:schemeClr>
          </a:solidFill>
        </p:spPr>
        <p:txBody>
          <a:bodyPr rtlCol="0"/>
          <a:lstStyle/>
          <a:p>
            <a:pPr algn="l"/>
            <a:r>
              <a:rPr lang="es-CL" dirty="0"/>
              <a:t> ✔ Acceso mediante cuenta propia y permisos según rol</a:t>
            </a:r>
          </a:p>
          <a:p>
            <a:pPr algn="l"/>
            <a:r>
              <a:rPr lang="es-CL" dirty="0"/>
              <a:t>✔ Creación y edición de proyectos</a:t>
            </a:r>
          </a:p>
          <a:p>
            <a:pPr algn="l"/>
            <a:r>
              <a:rPr lang="es-CL" dirty="0"/>
              <a:t>✔ Publicación de estados de avances</a:t>
            </a:r>
          </a:p>
          <a:p>
            <a:pPr algn="l"/>
            <a:r>
              <a:rPr lang="es-CL" dirty="0"/>
              <a:t>✔ Exploración y visualización de proyectos</a:t>
            </a:r>
          </a:p>
          <a:p>
            <a:pPr algn="l"/>
            <a:r>
              <a:rPr lang="es-CL" dirty="0"/>
              <a:t>✔ Formación de equipos de estudiantes por sección</a:t>
            </a:r>
          </a:p>
          <a:p>
            <a:pPr algn="l"/>
            <a:r>
              <a:rPr lang="es-CL" dirty="0"/>
              <a:t>✔ Registro de avances e hitos del proyecto</a:t>
            </a:r>
          </a:p>
          <a:p>
            <a:pPr algn="l"/>
            <a:r>
              <a:rPr lang="es-CL" dirty="0"/>
              <a:t>✔ Seguimiento académico por coordinador </a:t>
            </a:r>
          </a:p>
          <a:p>
            <a:pPr algn="l"/>
            <a:r>
              <a:rPr lang="es-CL" dirty="0"/>
              <a:t>✔ Información para coordinación académica</a:t>
            </a:r>
          </a:p>
          <a:p>
            <a:br>
              <a:rPr lang="es-CL" dirty="0"/>
            </a:b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4</a:t>
            </a:fld>
            <a:endParaRPr lang="es-ES"/>
          </a:p>
        </p:txBody>
      </p:sp>
      <p:pic>
        <p:nvPicPr>
          <p:cNvPr id="4" name="Google Shape;70;p1">
            <a:extLst>
              <a:ext uri="{FF2B5EF4-FFF2-40B4-BE49-F238E27FC236}">
                <a16:creationId xmlns:a16="http://schemas.microsoft.com/office/drawing/2014/main" id="{9C403400-4855-2816-6552-D7D507E4597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3367" y="6204030"/>
            <a:ext cx="2326633" cy="65396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A9D3EEE-96AE-0DDF-943A-D01361F8311D}"/>
              </a:ext>
            </a:extLst>
          </p:cNvPr>
          <p:cNvSpPr txBox="1">
            <a:spLocks/>
          </p:cNvSpPr>
          <p:nvPr/>
        </p:nvSpPr>
        <p:spPr>
          <a:xfrm>
            <a:off x="6115291" y="2085110"/>
            <a:ext cx="5956300" cy="4003174"/>
          </a:xfrm>
          <a:prstGeom prst="rect">
            <a:avLst/>
          </a:prstGeom>
          <a:solidFill>
            <a:schemeClr val="accent6">
              <a:lumMod val="50000"/>
              <a:alpha val="80000"/>
            </a:schemeClr>
          </a:solidFill>
        </p:spPr>
        <p:txBody>
          <a:bodyPr vert="horz" lIns="180000" tIns="180000" rIns="252000" bIns="18000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667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29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096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763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L" dirty="0"/>
              <a:t>✘ Monetización de la plataforma</a:t>
            </a:r>
          </a:p>
          <a:p>
            <a:pPr algn="l"/>
            <a:r>
              <a:rPr lang="es-CL" dirty="0"/>
              <a:t>✘ No reemplaza sistemas institucionales </a:t>
            </a:r>
          </a:p>
          <a:p>
            <a:pPr algn="l"/>
            <a:r>
              <a:rPr lang="es-CL" dirty="0"/>
              <a:t>✘ No incorpora IA </a:t>
            </a:r>
          </a:p>
          <a:p>
            <a:pPr algn="l"/>
            <a:r>
              <a:rPr lang="es-CL" dirty="0"/>
              <a:t>✘ No opera para múltiples instituciones.</a:t>
            </a:r>
          </a:p>
          <a:p>
            <a:pPr algn="l"/>
            <a:r>
              <a:rPr lang="es-CL" dirty="0"/>
              <a:t>✘No es una aplicación móvil</a:t>
            </a:r>
          </a:p>
          <a:p>
            <a:pPr algn="l"/>
            <a:r>
              <a:rPr lang="es-CL" dirty="0"/>
              <a:t>✘No ofrece recomendaciones automáticas avanzadas</a:t>
            </a:r>
          </a:p>
          <a:p>
            <a:br>
              <a:rPr lang="es-CL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7B417E-D0CD-59DE-E83E-9A56B46B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Requerimientos 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A1CA04-F75E-7613-E48F-007D824E11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CL" dirty="0"/>
              <a:t>Funcionales</a:t>
            </a:r>
          </a:p>
          <a:p>
            <a:pPr lvl="0"/>
            <a:r>
              <a:rPr lang="es-CL" b="1" dirty="0"/>
              <a:t>RF01:</a:t>
            </a:r>
            <a:r>
              <a:rPr lang="es-CL" dirty="0"/>
              <a:t> Autenticar usuarios mediante cuentas propias y permisos por rol.</a:t>
            </a:r>
          </a:p>
          <a:p>
            <a:pPr lvl="0"/>
            <a:r>
              <a:rPr lang="es-CL" b="1" dirty="0"/>
              <a:t>RF02:</a:t>
            </a:r>
            <a:r>
              <a:rPr lang="es-CL" dirty="0"/>
              <a:t> Importar y validar información académica.</a:t>
            </a:r>
          </a:p>
          <a:p>
            <a:pPr lvl="0"/>
            <a:r>
              <a:rPr lang="es-CL" b="1" dirty="0"/>
              <a:t>RF03:</a:t>
            </a:r>
            <a:r>
              <a:rPr lang="es-CL" dirty="0"/>
              <a:t> Registrar socios formadores y proyectos VCM.</a:t>
            </a:r>
          </a:p>
          <a:p>
            <a:pPr lvl="0"/>
            <a:r>
              <a:rPr lang="es-CL" b="1" dirty="0"/>
              <a:t>RF04:</a:t>
            </a:r>
            <a:r>
              <a:rPr lang="es-CL" dirty="0"/>
              <a:t> Vincular automáticamente proyectos con sedes y secciones.</a:t>
            </a:r>
          </a:p>
          <a:p>
            <a:pPr lvl="0"/>
            <a:r>
              <a:rPr lang="es-CL" b="1" dirty="0"/>
              <a:t>RF05:</a:t>
            </a:r>
            <a:r>
              <a:rPr lang="es-CL" dirty="0"/>
              <a:t> Gestionar estudiantes, equipos y tres hitos por sección.</a:t>
            </a:r>
          </a:p>
          <a:p>
            <a:pPr lvl="0"/>
            <a:r>
              <a:rPr lang="es-CL" b="1" dirty="0"/>
              <a:t>RF06:</a:t>
            </a:r>
            <a:r>
              <a:rPr lang="es-CL" dirty="0"/>
              <a:t> Visualizar el avance y exportar reportes de seguimiento a Excel.</a:t>
            </a:r>
          </a:p>
          <a:p>
            <a:pPr marL="0" indent="0">
              <a:buNone/>
            </a:pPr>
            <a:r>
              <a:rPr lang="es-CL" dirty="0"/>
              <a:t>	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AC261DF-9A80-9D97-A0EB-17FE290E5A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CL" dirty="0"/>
              <a:t>No Funcionales</a:t>
            </a:r>
          </a:p>
          <a:p>
            <a:pPr lvl="0"/>
            <a:r>
              <a:rPr lang="es-CL" b="1" dirty="0"/>
              <a:t>RNF01. Seguridad:</a:t>
            </a:r>
            <a:r>
              <a:rPr lang="es-CL" dirty="0"/>
              <a:t> proteger contraseñas, sesiones y archivos privados.</a:t>
            </a:r>
          </a:p>
          <a:p>
            <a:pPr lvl="0"/>
            <a:r>
              <a:rPr lang="es-CL" b="1" dirty="0"/>
              <a:t>RNF02. Integridad:</a:t>
            </a:r>
            <a:r>
              <a:rPr lang="es-CL" dirty="0"/>
              <a:t> impedir duplicados y relaciones académicas inválidas.</a:t>
            </a:r>
          </a:p>
          <a:p>
            <a:pPr lvl="0"/>
            <a:r>
              <a:rPr lang="es-CL" b="1" dirty="0"/>
              <a:t>RNF03. Rendimiento:</a:t>
            </a:r>
            <a:r>
              <a:rPr lang="es-CL" dirty="0"/>
              <a:t> obtener información de seguimiento en un máximo de dos minutos.</a:t>
            </a:r>
          </a:p>
          <a:p>
            <a:pPr lvl="0"/>
            <a:r>
              <a:rPr lang="es-CL" b="1" dirty="0"/>
              <a:t>RNF04. Usabilidad:</a:t>
            </a:r>
            <a:r>
              <a:rPr lang="es-CL" dirty="0"/>
              <a:t> ofrecer una interfaz clara, consistente y adaptable.</a:t>
            </a:r>
          </a:p>
          <a:p>
            <a:pPr lvl="0"/>
            <a:r>
              <a:rPr lang="es-CL" b="1" dirty="0"/>
              <a:t>RNF05. Disponibilidad:</a:t>
            </a:r>
            <a:r>
              <a:rPr lang="es-CL" dirty="0"/>
              <a:t> informar los errores cuando la API no esté disponible.</a:t>
            </a:r>
          </a:p>
          <a:p>
            <a:pPr lvl="0"/>
            <a:r>
              <a:rPr lang="es-CL" b="1" dirty="0"/>
              <a:t>RNF06. Trazabilidad:</a:t>
            </a:r>
            <a:r>
              <a:rPr lang="es-CL" dirty="0"/>
              <a:t> registrar las operaciones críticas en una bitácora de auditoría.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93D4DD-9BB6-8C70-CC68-ED955FB157F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5</a:t>
            </a:fld>
            <a:endParaRPr lang="es-ES" noProof="0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977787F4-9FB7-74A7-7407-90890A17710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33367" y="6204030"/>
            <a:ext cx="2326633" cy="65396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069336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 descr="Bloque de énfasis izquierdo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cxnSp>
        <p:nvCxnSpPr>
          <p:cNvPr id="11" name="Conector recto 10" descr="Línea divisoria de la diapositiva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 descr="Barra de énfasis derecha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443459"/>
            <a:ext cx="5472000" cy="358775"/>
          </a:xfrm>
        </p:spPr>
        <p:txBody>
          <a:bodyPr rtlCol="0"/>
          <a:lstStyle/>
          <a:p>
            <a:pPr rtl="0"/>
            <a:r>
              <a:rPr lang="es-ES"/>
              <a:t>Servicio competitivo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6</a:t>
            </a:fld>
            <a:endParaRPr lang="es-ES"/>
          </a:p>
        </p:txBody>
      </p:sp>
      <p:sp>
        <p:nvSpPr>
          <p:cNvPr id="14" name="Título 2">
            <a:extLst>
              <a:ext uri="{FF2B5EF4-FFF2-40B4-BE49-F238E27FC236}">
                <a16:creationId xmlns:a16="http://schemas.microsoft.com/office/drawing/2014/main" id="{37F40367-662F-08AD-9CCE-A4116C81897A}"/>
              </a:ext>
            </a:extLst>
          </p:cNvPr>
          <p:cNvSpPr txBox="1">
            <a:spLocks/>
          </p:cNvSpPr>
          <p:nvPr/>
        </p:nvSpPr>
        <p:spPr>
          <a:xfrm>
            <a:off x="2412117" y="140482"/>
            <a:ext cx="7157013" cy="122420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5400" dirty="0"/>
              <a:t>Enfoque ágil, SCRUM</a:t>
            </a:r>
            <a:endParaRPr lang="es-ES" sz="52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77320953-AEA0-83F8-96CF-EB9465E33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8317"/>
            <a:ext cx="11069380" cy="5659683"/>
          </a:xfrm>
          <a:prstGeom prst="rect">
            <a:avLst/>
          </a:prstGeom>
        </p:spPr>
      </p:pic>
      <p:pic>
        <p:nvPicPr>
          <p:cNvPr id="10" name="Google Shape;70;p1">
            <a:extLst>
              <a:ext uri="{FF2B5EF4-FFF2-40B4-BE49-F238E27FC236}">
                <a16:creationId xmlns:a16="http://schemas.microsoft.com/office/drawing/2014/main" id="{32DE9418-1508-C8D5-737D-F03BF02AE3D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73966" y="6402562"/>
            <a:ext cx="1186034" cy="432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50066"/>
          </a:xfrm>
        </p:spPr>
        <p:txBody>
          <a:bodyPr rtlCol="0"/>
          <a:lstStyle/>
          <a:p>
            <a:pPr rtl="0"/>
            <a:r>
              <a:rPr lang="es-ES" sz="5200" dirty="0"/>
              <a:t>Tecnologías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7</a:t>
            </a:fld>
            <a:endParaRPr lang="es-ES"/>
          </a:p>
        </p:txBody>
      </p:sp>
      <p:pic>
        <p:nvPicPr>
          <p:cNvPr id="4" name="Google Shape;70;p1">
            <a:extLst>
              <a:ext uri="{FF2B5EF4-FFF2-40B4-BE49-F238E27FC236}">
                <a16:creationId xmlns:a16="http://schemas.microsoft.com/office/drawing/2014/main" id="{3BE95805-C536-9DA3-7E03-61745717EA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14390" y="6371351"/>
            <a:ext cx="2245610" cy="4866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4E721AF-E18E-E510-B469-3B2DA4218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2244"/>
            <a:ext cx="12276306" cy="422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379698-AB4C-493D-BF95-F5781FDF2AC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8</a:t>
            </a:fld>
            <a:endParaRPr lang="es-ES"/>
          </a:p>
        </p:txBody>
      </p:sp>
      <p:sp>
        <p:nvSpPr>
          <p:cNvPr id="9" name="Título 2">
            <a:extLst>
              <a:ext uri="{FF2B5EF4-FFF2-40B4-BE49-F238E27FC236}">
                <a16:creationId xmlns:a16="http://schemas.microsoft.com/office/drawing/2014/main" id="{78222D97-7B44-8A8C-2296-B41C56DA1D2A}"/>
              </a:ext>
            </a:extLst>
          </p:cNvPr>
          <p:cNvSpPr txBox="1">
            <a:spLocks/>
          </p:cNvSpPr>
          <p:nvPr/>
        </p:nvSpPr>
        <p:spPr>
          <a:xfrm>
            <a:off x="2412117" y="140482"/>
            <a:ext cx="7157013" cy="122420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5400" dirty="0"/>
              <a:t>Cronograma</a:t>
            </a:r>
            <a:endParaRPr lang="es-ES" sz="5200" dirty="0"/>
          </a:p>
        </p:txBody>
      </p:sp>
      <p:pic>
        <p:nvPicPr>
          <p:cNvPr id="13" name="Google Shape;70;p1">
            <a:extLst>
              <a:ext uri="{FF2B5EF4-FFF2-40B4-BE49-F238E27FC236}">
                <a16:creationId xmlns:a16="http://schemas.microsoft.com/office/drawing/2014/main" id="{79ACB7BE-A91B-BCFE-465F-3A9F71624B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3367" y="6204030"/>
            <a:ext cx="2326633" cy="65396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22DEB0C-5FF2-A145-7E32-B513A326F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9406" y="1211947"/>
            <a:ext cx="12270811" cy="417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21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Marcador de posición de imagen 31" descr="manos aplaudiendo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674"/>
            <a:ext cx="9780102" cy="6804025"/>
          </a:xfrm>
        </p:spPr>
      </p:pic>
      <p:sp>
        <p:nvSpPr>
          <p:cNvPr id="14" name="Título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86391"/>
            <a:ext cx="12192000" cy="2324911"/>
          </a:xfrm>
        </p:spPr>
        <p:txBody>
          <a:bodyPr rtlCol="0"/>
          <a:lstStyle/>
          <a:p>
            <a:pPr algn="ctr" rtl="0"/>
            <a:r>
              <a:rPr lang="es-ES" sz="5200" dirty="0"/>
              <a:t>¡Muchas gracias por su atención!</a:t>
            </a:r>
            <a:br>
              <a:rPr lang="es-ES" sz="5200" dirty="0"/>
            </a:br>
            <a:br>
              <a:rPr lang="es-ES" sz="5200" dirty="0"/>
            </a:br>
            <a:r>
              <a:rPr lang="es-ES" sz="5200" dirty="0"/>
              <a:t>Preguntas…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9</a:t>
            </a:fld>
            <a:endParaRPr lang="es-ES"/>
          </a:p>
        </p:txBody>
      </p:sp>
      <p:pic>
        <p:nvPicPr>
          <p:cNvPr id="21" name="Google Shape;70;p1">
            <a:extLst>
              <a:ext uri="{FF2B5EF4-FFF2-40B4-BE49-F238E27FC236}">
                <a16:creationId xmlns:a16="http://schemas.microsoft.com/office/drawing/2014/main" id="{A1D5DB6B-D405-BD15-A1A6-66D8EA2AC21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3367" y="6204030"/>
            <a:ext cx="2326633" cy="65396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750_TF16411250.potx" id="{675E8371-EC70-4345-8B64-A71003B56298}" vid="{0F92AA19-00D6-4C71-B13F-219D7994A0B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64A4C9D-F801-4923-BC6D-E0006F512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2218FC-8412-44B9-9E82-D51F1F531141}">
  <ds:schemaRefs>
    <ds:schemaRef ds:uri="http://purl.org/dc/elements/1.1/"/>
    <ds:schemaRef ds:uri="http://schemas.microsoft.com/sharepoint/v3"/>
    <ds:schemaRef ds:uri="http://schemas.microsoft.com/office/2006/documentManagement/types"/>
    <ds:schemaRef ds:uri="fb0879af-3eba-417a-a55a-ffe6dcd6ca77"/>
    <ds:schemaRef ds:uri="http://schemas.microsoft.com/office/2006/metadata/properties"/>
    <ds:schemaRef ds:uri="http://schemas.microsoft.com/office/infopath/2007/PartnerControls"/>
    <ds:schemaRef ds:uri="6dc4bcd6-49db-4c07-9060-8acfc67cef9f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97</TotalTime>
  <Words>541</Words>
  <Application>Microsoft Office PowerPoint</Application>
  <PresentationFormat>Panorámica</PresentationFormat>
  <Paragraphs>86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Calibri</vt:lpstr>
      <vt:lpstr>Candara</vt:lpstr>
      <vt:lpstr>Corbel</vt:lpstr>
      <vt:lpstr>Times New Roman</vt:lpstr>
      <vt:lpstr>Wingdings</vt:lpstr>
      <vt:lpstr>Personalizado</vt:lpstr>
      <vt:lpstr>Sistema de Gestión de Proyectos  para Vinculación con el Medio</vt:lpstr>
      <vt:lpstr>Problema</vt:lpstr>
      <vt:lpstr>Objetivo general</vt:lpstr>
      <vt:lpstr>Alcances y limitaciones</vt:lpstr>
      <vt:lpstr>Requerimientos </vt:lpstr>
      <vt:lpstr>Presentación de PowerPoint</vt:lpstr>
      <vt:lpstr>Tecnologías</vt:lpstr>
      <vt:lpstr>Presentación de PowerPoint</vt:lpstr>
      <vt:lpstr>¡Muchas gracias por su atención!  Preguntas…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Rocio Ro Urrutia</dc:creator>
  <cp:lastModifiedBy>Rocio Ro Urrutia</cp:lastModifiedBy>
  <cp:revision>4</cp:revision>
  <dcterms:created xsi:type="dcterms:W3CDTF">2026-09-05T23:15:53Z</dcterms:created>
  <dcterms:modified xsi:type="dcterms:W3CDTF">2026-09-06T00:57:10Z</dcterms:modified>
</cp:coreProperties>
</file>