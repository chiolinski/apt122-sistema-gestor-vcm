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Epilogue" panose="020B0604020202020204" charset="0"/>
      <p:regular r:id="rId13"/>
    </p:embeddedFont>
    <p:embeddedFont>
      <p:font typeface="Epilogue Bold" panose="020B0604020202020204" charset="0"/>
      <p:regular r:id="rId14"/>
    </p:embeddedFont>
    <p:embeddedFont>
      <p:font typeface="Fraunces Medium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746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8AFCC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E26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>
            <a:extLst>
              <a:ext uri="{FF2B5EF4-FFF2-40B4-BE49-F238E27FC236}">
                <a16:creationId xmlns:a16="http://schemas.microsoft.com/office/drawing/2014/main" id="{AB8ED443-4850-AB16-5361-0D05BE3E7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395611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Sistema de Gestión de Proyectos para Vinculación con el Medio (VCM)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451027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Proyecto Capstone — Ingeniería en Informática, Duoc UC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3966071"/>
            <a:ext cx="1972915" cy="981273"/>
          </a:xfrm>
          <a:prstGeom prst="roundRect">
            <a:avLst>
              <a:gd name="adj" fmla="val 8090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5428717" y="4161433"/>
            <a:ext cx="158220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Israel Del Pino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7395283" y="3966071"/>
            <a:ext cx="1972915" cy="981273"/>
          </a:xfrm>
          <a:prstGeom prst="roundRect">
            <a:avLst>
              <a:gd name="adj" fmla="val 8090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7590640" y="4161433"/>
            <a:ext cx="158220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Rocío Rodríguez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9557205" y="3966071"/>
            <a:ext cx="1972915" cy="981273"/>
          </a:xfrm>
          <a:prstGeom prst="roundRect">
            <a:avLst>
              <a:gd name="adj" fmla="val 8090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9752562" y="4161433"/>
            <a:ext cx="158220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Pablo Sepúlveda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5233360" y="5159970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Capstone Concepción · 7 de septiembre de 2026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C734036C-AFF6-419D-5003-2DAC86CCF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28"/>
            <a:ext cx="12192000" cy="6856572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534491"/>
            <a:ext cx="891954" cy="219869"/>
          </a:xfrm>
          <a:prstGeom prst="roundRect">
            <a:avLst>
              <a:gd name="adj" fmla="val 22115"/>
            </a:avLst>
          </a:prstGeom>
          <a:solidFill>
            <a:srgbClr val="181E3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1"/>
          <p:cNvSpPr/>
          <p:nvPr/>
        </p:nvSpPr>
        <p:spPr>
          <a:xfrm>
            <a:off x="5320175" y="577850"/>
            <a:ext cx="1327911" cy="133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EL PROBLEMA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233360" y="798612"/>
            <a:ext cx="6296860" cy="904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Gestión Manual: Un Cuello de Botella Sistémico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233360" y="1869281"/>
            <a:ext cx="6296860" cy="1021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La gestión manual y dispersa de los proyectos VCM dificulta su seguimiento, genera errores y reduce la trazabilidad de la información. Sin una plataforma centralizada, la información queda fragmentada en hojas de cálculo, correos electrónicos y documentos locales, lo que impide una visión consolidada del estado real de cada proyecto, sede y docente involucrado.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015853"/>
            <a:ext cx="6296860" cy="10287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473265" y="3179564"/>
            <a:ext cx="5893248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Sin centralización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473265" y="3472061"/>
            <a:ext cx="5893248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Los datos residen en múltiples fuentes no integradas, dificultando la consolidación de información para la toma de decisiones.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4155281"/>
            <a:ext cx="6296860" cy="10287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73265" y="4318992"/>
            <a:ext cx="5893248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Errores frecuentes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5473265" y="4611489"/>
            <a:ext cx="5893248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La entrada manual genera inconsistencias que afectan la calidad y confiabilidad de los registros.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5294709"/>
            <a:ext cx="6296860" cy="10287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473265" y="5458420"/>
            <a:ext cx="5893248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Baja trazabilidad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5473265" y="5750917"/>
            <a:ext cx="5893248" cy="40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Es imposible auditar el historial completo de cada proyecto, hito o cambio de estado en tiempo real.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>
            <a:extLst>
              <a:ext uri="{FF2B5EF4-FFF2-40B4-BE49-F238E27FC236}">
                <a16:creationId xmlns:a16="http://schemas.microsoft.com/office/drawing/2014/main" id="{6C61E0DB-BBEE-E253-52D4-41D392F08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661475" y="538361"/>
            <a:ext cx="1453221" cy="210741"/>
          </a:xfrm>
          <a:prstGeom prst="roundRect">
            <a:avLst>
              <a:gd name="adj" fmla="val 22132"/>
            </a:avLst>
          </a:prstGeom>
          <a:solidFill>
            <a:srgbClr val="181E3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744717" y="579934"/>
            <a:ext cx="1896321" cy="127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PROPUESTA DE SOLUCIÓN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789781"/>
            <a:ext cx="10868745" cy="433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Plataforma Web Centralizada para VCM</a:t>
            </a:r>
            <a:endParaRPr lang="en-US" sz="2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1491059"/>
            <a:ext cx="6946131" cy="39362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52482" y="2204839"/>
            <a:ext cx="3583989" cy="1348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Una plataforma web que </a:t>
            </a:r>
            <a:r>
              <a:rPr lang="en-US" sz="10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centraliza el registro, ejecución y seguimiento</a:t>
            </a: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de proyectos VCM por proyecto, sede y docente. El sistema unifica la información en un único entorno digital, permitiendo a coordinadores y docentes gestionar el ciclo completo de cada iniciativa desde una interfaz intuitiva y accesible.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7952482" y="3667522"/>
            <a:ext cx="3583989" cy="1022945"/>
          </a:xfrm>
          <a:prstGeom prst="roundRect">
            <a:avLst>
              <a:gd name="adj" fmla="val 5699"/>
            </a:avLst>
          </a:prstGeom>
          <a:solidFill>
            <a:srgbClr val="283157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1285" y="3815854"/>
            <a:ext cx="173430" cy="13880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03519" y="3793827"/>
            <a:ext cx="2994149" cy="770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Impacto Profesional:</a:t>
            </a:r>
            <a:r>
              <a:rPr lang="en-US" sz="10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Este proyecto se alinea con el perfil de egreso al requerir la implementación de arquitectura cloud y bases de datos relacionales.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3464" y="5660777"/>
            <a:ext cx="208156" cy="20816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12512" y="5656461"/>
            <a:ext cx="3086916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Registro unificado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1112512" y="5934472"/>
            <a:ext cx="3086916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Todos los proyectos en un solo repositorio digital accesible por sede y rol.</a:t>
            </a:r>
            <a:endParaRPr lang="en-US" sz="10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78811" y="5660777"/>
            <a:ext cx="208156" cy="20816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777859" y="5656461"/>
            <a:ext cx="3086916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Seguimiento en tiempo real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4777859" y="5934472"/>
            <a:ext cx="3086916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Monitoreo del avance por hitos, equipos y estado de ejecución.</a:t>
            </a:r>
            <a:endParaRPr lang="en-US" sz="10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44157" y="5660777"/>
            <a:ext cx="208156" cy="20816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443205" y="5656461"/>
            <a:ext cx="3086916" cy="216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Reportes exportables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8443205" y="5934472"/>
            <a:ext cx="3086916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Generación de informes consolidados para la gestión académica.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:a16="http://schemas.microsoft.com/office/drawing/2014/main" id="{ECB25689-4258-77F8-9850-9A864C603D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661475" y="540544"/>
            <a:ext cx="1916958" cy="273645"/>
          </a:xfrm>
          <a:prstGeom prst="roundRect">
            <a:avLst>
              <a:gd name="adj" fmla="val 22121"/>
            </a:avLst>
          </a:prstGeom>
          <a:solidFill>
            <a:srgbClr val="181E3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769521" y="594519"/>
            <a:ext cx="2310449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OBJETIVOS DEL PROYECTO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882848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¿Qué nos proponemos lograr?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61475" y="1875135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Objetivo General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61475" y="2328267"/>
            <a:ext cx="5214609" cy="112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Desarrollar una plataforma web para </a:t>
            </a:r>
            <a:r>
              <a:rPr lang="en-US" sz="14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digitalizar y centralizar la gestión de proyectos VCM</a:t>
            </a: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, mejorando la trazabilidad, eficiencia y calidad de la información institucional.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21961" y="1875135"/>
            <a:ext cx="5214609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Objetivos Específicos</a:t>
            </a:r>
            <a:endParaRPr lang="en-US" sz="17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21961" y="2349798"/>
            <a:ext cx="2521482" cy="19421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74606" y="2484934"/>
            <a:ext cx="216093" cy="2701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6527438" y="3070324"/>
            <a:ext cx="211052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Consolidación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6527438" y="3523456"/>
            <a:ext cx="211052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95% de proyectos registrados al 3.er mes.</a:t>
            </a:r>
            <a:endParaRPr lang="en-US" sz="14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15088" y="2349798"/>
            <a:ext cx="2521482" cy="19421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167733" y="2484934"/>
            <a:ext cx="216093" cy="2701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9220565" y="3070324"/>
            <a:ext cx="211052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Eficiencia</a:t>
            </a:r>
            <a:endParaRPr lang="en-US" sz="1750" dirty="0"/>
          </a:p>
        </p:txBody>
      </p:sp>
      <p:sp>
        <p:nvSpPr>
          <p:cNvPr id="15" name="Text 11"/>
          <p:cNvSpPr/>
          <p:nvPr/>
        </p:nvSpPr>
        <p:spPr>
          <a:xfrm>
            <a:off x="9220565" y="3523456"/>
            <a:ext cx="2110528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Reducir 30% el tiempo de registro.</a:t>
            </a:r>
            <a:endParaRPr lang="en-US" sz="14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1961" y="4463554"/>
            <a:ext cx="5214609" cy="166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21170" y="4598690"/>
            <a:ext cx="216093" cy="2701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527438" y="5184080"/>
            <a:ext cx="480365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Trazabilidad</a:t>
            </a:r>
            <a:endParaRPr lang="en-US" sz="1750" dirty="0"/>
          </a:p>
        </p:txBody>
      </p:sp>
      <p:sp>
        <p:nvSpPr>
          <p:cNvPr id="19" name="Text 14"/>
          <p:cNvSpPr/>
          <p:nvPr/>
        </p:nvSpPr>
        <p:spPr>
          <a:xfrm>
            <a:off x="6527438" y="5637213"/>
            <a:ext cx="4803655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90% de hitos trazables al 4.º mes.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8952E37D-AEF4-9098-D5E6-24430F9C3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661475" y="1146274"/>
            <a:ext cx="854252" cy="287139"/>
          </a:xfrm>
          <a:prstGeom prst="roundRect">
            <a:avLst>
              <a:gd name="adj" fmla="val 22118"/>
            </a:avLst>
          </a:prstGeom>
          <a:solidFill>
            <a:srgbClr val="181E3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774879" y="1202928"/>
            <a:ext cx="123702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ALCANCE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50901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Alcances y Limitaciones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525350" y="2383135"/>
            <a:ext cx="5476043" cy="3328591"/>
          </a:xfrm>
          <a:prstGeom prst="roundRect">
            <a:avLst>
              <a:gd name="adj" fmla="val 4089"/>
            </a:avLst>
          </a:prstGeom>
          <a:solidFill>
            <a:srgbClr val="8C98C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714357" y="2572147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85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Qué incluye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14357" y="3056434"/>
            <a:ext cx="5098029" cy="2078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Cuentas de usuario diferenciadas por rol (docente, coordinador, administrador)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Creación y gestión completa de proyectos VCM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Seguimiento académico por sede y estado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Registro de hitos y equipos de trabajo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Reportes exportables en formatos estándar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32776" y="257214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r>
              <a:rPr lang="en-US" sz="18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Qué NO incluye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32776" y="3056434"/>
            <a:ext cx="5203794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Módulos de monetización o facturación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Funcionalidades de Inteligencia Artificial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Aplicación móvil nativa o PWA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Integración con sistemas externos de RRHH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32776" y="4634409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El alcance está acotado deliberadamente para garantizar la entrega dentro del período de 17 semanas del Capstone.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n 17">
            <a:extLst>
              <a:ext uri="{FF2B5EF4-FFF2-40B4-BE49-F238E27FC236}">
                <a16:creationId xmlns:a16="http://schemas.microsoft.com/office/drawing/2014/main" id="{0C52473F-4B8A-52B8-4569-3A0D2769B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661475" y="539552"/>
            <a:ext cx="1321958" cy="269180"/>
          </a:xfrm>
          <a:prstGeom prst="roundRect">
            <a:avLst>
              <a:gd name="adj" fmla="val 22119"/>
            </a:avLst>
          </a:prstGeom>
          <a:solidFill>
            <a:srgbClr val="181E3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767735" y="592634"/>
            <a:ext cx="1719021" cy="163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REQUERIMIENTOS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875109"/>
            <a:ext cx="10868745" cy="553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Requerimientos Principales</a:t>
            </a:r>
            <a:endParaRPr lang="en-US" sz="3450" dirty="0"/>
          </a:p>
        </p:txBody>
      </p:sp>
      <p:sp>
        <p:nvSpPr>
          <p:cNvPr id="5" name="Text 3"/>
          <p:cNvSpPr/>
          <p:nvPr/>
        </p:nvSpPr>
        <p:spPr>
          <a:xfrm>
            <a:off x="661475" y="1844080"/>
            <a:ext cx="521828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Requerimientos Funcionales</a:t>
            </a:r>
            <a:endParaRPr lang="en-US" sz="1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307828"/>
            <a:ext cx="354401" cy="35440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23535" y="2368649"/>
            <a:ext cx="465621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Autenticación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223535" y="2811661"/>
            <a:ext cx="4656219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Login seguro con roles diferenciados y control de acceso.</a:t>
            </a:r>
            <a:endParaRPr lang="en-US" sz="13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693120"/>
            <a:ext cx="354401" cy="35440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23535" y="3753941"/>
            <a:ext cx="465621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Gestión de hitos y equipos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223535" y="4196953"/>
            <a:ext cx="4656219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Creación, edición y seguimiento de hitos por proyecto.</a:t>
            </a:r>
            <a:endParaRPr lang="en-US" sz="13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5078413"/>
            <a:ext cx="354401" cy="35440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23535" y="5139234"/>
            <a:ext cx="4656219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Reportes exportables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1223535" y="5582245"/>
            <a:ext cx="4656219" cy="549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Generación y descarga de informes consolidados en PDF/Excel.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318290" y="1844080"/>
            <a:ext cx="5218280" cy="276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Requerimientos No Funcionales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6318290" y="2287091"/>
            <a:ext cx="5218280" cy="2920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Seguridad:</a:t>
            </a: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Autenticación robusta, cifrado de datos en tránsito y en reposo, y control de acceso basado en roles (RBAC).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Rendimiento:</a:t>
            </a: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Tiempos de respuesta inferiores a 2 minutos incluso bajo carga concurrente de múltiples usuarios.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Trazabilidad:</a:t>
            </a: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Registro completo de auditoría para cada acción crítica en el sistema.</a:t>
            </a:r>
            <a:endParaRPr lang="en-US" sz="1350" dirty="0"/>
          </a:p>
          <a:p>
            <a:pPr marL="274320" indent="-274320" algn="l">
              <a:lnSpc>
                <a:spcPct val="129000"/>
              </a:lnSpc>
              <a:buSzPct val="100000"/>
              <a:buChar char="•"/>
            </a:pPr>
            <a:r>
              <a:rPr lang="en-US" sz="135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Disponibilidad:</a:t>
            </a: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Arquitectura cloud en Azure con alta disponibilidad y escalabilidad horizontal.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4B32C28A-701E-C040-7455-6454A82F0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661475" y="566043"/>
            <a:ext cx="755532" cy="179487"/>
          </a:xfrm>
          <a:prstGeom prst="roundRect">
            <a:avLst>
              <a:gd name="adj" fmla="val 22115"/>
            </a:avLst>
          </a:prstGeom>
          <a:solidFill>
            <a:srgbClr val="181E3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732315" y="601464"/>
            <a:ext cx="1223436" cy="108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METODOLOGÍA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774998"/>
            <a:ext cx="10868745" cy="369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Desarrollo Ágil SCRUM — 17 Semanas</a:t>
            </a:r>
            <a:endParaRPr lang="en-US" sz="2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784" y="1254919"/>
            <a:ext cx="10390027" cy="40733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9442" y="1454683"/>
            <a:ext cx="1902017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Planificación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139949" y="1454683"/>
            <a:ext cx="1902016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Desarrollo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39949" y="4822695"/>
            <a:ext cx="1902016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Revisión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149442" y="4822695"/>
            <a:ext cx="1902017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Retrospectiva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61475" y="5411291"/>
            <a:ext cx="11478330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El proyecto se desarrolla bajo metodología SCRUM, con sprints de duración definida que permiten entregas incrementales y adaptación continua a los requerimientos del cliente.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5647928"/>
            <a:ext cx="10868745" cy="6439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3041" y="5778698"/>
            <a:ext cx="10556412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Evidencias de Logro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843041" y="6007497"/>
            <a:ext cx="10556412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Entregaremos </a:t>
            </a:r>
            <a:r>
              <a:rPr lang="en-US" sz="9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repositorios en GitHub</a:t>
            </a: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con historial de commits, </a:t>
            </a:r>
            <a:r>
              <a:rPr lang="en-US" sz="9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registros de auditoría de pases a producción en Azure</a:t>
            </a: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y </a:t>
            </a:r>
            <a:r>
              <a:rPr lang="en-US" sz="9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actas de validación</a:t>
            </a:r>
            <a:r>
              <a:rPr lang="en-US" sz="9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firmadas por el cliente institucional.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n 28">
            <a:extLst>
              <a:ext uri="{FF2B5EF4-FFF2-40B4-BE49-F238E27FC236}">
                <a16:creationId xmlns:a16="http://schemas.microsoft.com/office/drawing/2014/main" id="{3C7B40E4-7776-EC57-B3CB-9CA0A3073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661475" y="556518"/>
            <a:ext cx="1087311" cy="264616"/>
          </a:xfrm>
          <a:prstGeom prst="roundRect">
            <a:avLst>
              <a:gd name="adj" fmla="val 22126"/>
            </a:avLst>
          </a:prstGeom>
          <a:solidFill>
            <a:srgbClr val="181E3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765950" y="608707"/>
            <a:ext cx="1487946" cy="16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TECNOLOGÍAS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85329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Stack Tecnológico y Factibilidad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61475" y="1670745"/>
            <a:ext cx="5354007" cy="1680766"/>
          </a:xfrm>
          <a:prstGeom prst="roundRect">
            <a:avLst>
              <a:gd name="adj" fmla="val 4354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842048" y="1851323"/>
            <a:ext cx="522671" cy="522684"/>
          </a:xfrm>
          <a:prstGeom prst="ellipse">
            <a:avLst/>
          </a:prstGeom>
          <a:solidFill>
            <a:srgbClr val="8C98C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5813" y="1994991"/>
            <a:ext cx="235143" cy="2351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42048" y="2534642"/>
            <a:ext cx="499286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React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42048" y="2903141"/>
            <a:ext cx="4992860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Frontend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76113" y="1670745"/>
            <a:ext cx="5354107" cy="1680766"/>
          </a:xfrm>
          <a:prstGeom prst="roundRect">
            <a:avLst>
              <a:gd name="adj" fmla="val 4354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8"/>
          <p:cNvSpPr/>
          <p:nvPr/>
        </p:nvSpPr>
        <p:spPr>
          <a:xfrm>
            <a:off x="6356687" y="1851323"/>
            <a:ext cx="522671" cy="522684"/>
          </a:xfrm>
          <a:prstGeom prst="ellipse">
            <a:avLst/>
          </a:prstGeom>
          <a:solidFill>
            <a:srgbClr val="8C98C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00451" y="1994991"/>
            <a:ext cx="235143" cy="2351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56687" y="2534642"/>
            <a:ext cx="4992959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Node.js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6356687" y="2903141"/>
            <a:ext cx="4992959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Backend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61475" y="3512145"/>
            <a:ext cx="5354007" cy="1680766"/>
          </a:xfrm>
          <a:prstGeom prst="roundRect">
            <a:avLst>
              <a:gd name="adj" fmla="val 4354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2"/>
          <p:cNvSpPr/>
          <p:nvPr/>
        </p:nvSpPr>
        <p:spPr>
          <a:xfrm>
            <a:off x="842048" y="3692723"/>
            <a:ext cx="522671" cy="522684"/>
          </a:xfrm>
          <a:prstGeom prst="ellipse">
            <a:avLst/>
          </a:prstGeom>
          <a:solidFill>
            <a:srgbClr val="8C98C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5813" y="3836392"/>
            <a:ext cx="235143" cy="2351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2048" y="4376043"/>
            <a:ext cx="499286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Azure SQL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842048" y="4744541"/>
            <a:ext cx="4992860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Base de datos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176113" y="3512145"/>
            <a:ext cx="5354107" cy="1680766"/>
          </a:xfrm>
          <a:prstGeom prst="roundRect">
            <a:avLst>
              <a:gd name="adj" fmla="val 4354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6"/>
          <p:cNvSpPr/>
          <p:nvPr/>
        </p:nvSpPr>
        <p:spPr>
          <a:xfrm>
            <a:off x="6356687" y="3692723"/>
            <a:ext cx="522671" cy="522684"/>
          </a:xfrm>
          <a:prstGeom prst="ellipse">
            <a:avLst/>
          </a:prstGeom>
          <a:solidFill>
            <a:srgbClr val="8C98CA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00451" y="3836392"/>
            <a:ext cx="235143" cy="2351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56687" y="4376043"/>
            <a:ext cx="4992959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Azure Static Web Apps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6356687" y="4744541"/>
            <a:ext cx="4992959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Despliegue</a:t>
            </a:r>
            <a:endParaRPr lang="en-US" sz="1350" dirty="0"/>
          </a:p>
        </p:txBody>
      </p:sp>
      <p:sp>
        <p:nvSpPr>
          <p:cNvPr id="25" name="Shape 19"/>
          <p:cNvSpPr/>
          <p:nvPr/>
        </p:nvSpPr>
        <p:spPr>
          <a:xfrm>
            <a:off x="661475" y="5373588"/>
            <a:ext cx="10868745" cy="927894"/>
          </a:xfrm>
          <a:prstGeom prst="roundRect">
            <a:avLst>
              <a:gd name="adj" fmla="val 7887"/>
            </a:avLst>
          </a:prstGeom>
          <a:solidFill>
            <a:srgbClr val="283157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699" y="5609431"/>
            <a:ext cx="217780" cy="1742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27702" y="5577780"/>
            <a:ext cx="10128294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Factibilidad Técnica:</a:t>
            </a:r>
            <a:r>
              <a:rPr lang="en-US" sz="1350" dirty="0">
                <a:solidFill>
                  <a:srgbClr val="FFFFF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 Proyecto 100% realizable por el dominio del stack tecnológico del equipo y la agilidad que otorga la infraestructura autogestionada de Azure.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n 26">
            <a:extLst>
              <a:ext uri="{FF2B5EF4-FFF2-40B4-BE49-F238E27FC236}">
                <a16:creationId xmlns:a16="http://schemas.microsoft.com/office/drawing/2014/main" id="{5D22B5AF-A1F9-2F20-1F92-1AFA9BFD91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661475" y="545108"/>
            <a:ext cx="1116084" cy="255786"/>
          </a:xfrm>
          <a:prstGeom prst="roundRect">
            <a:avLst>
              <a:gd name="adj" fmla="val 22114"/>
            </a:avLst>
          </a:prstGeom>
          <a:solidFill>
            <a:srgbClr val="181E3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762477" y="595610"/>
            <a:ext cx="1523664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PLANIFICACIÓN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60822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Cronograma y Gestión de Riesgos</a:t>
            </a:r>
            <a:endParaRPr lang="en-US" sz="3300" dirty="0"/>
          </a:p>
        </p:txBody>
      </p:sp>
      <p:sp>
        <p:nvSpPr>
          <p:cNvPr id="21" name="Shape 19"/>
          <p:cNvSpPr/>
          <p:nvPr/>
        </p:nvSpPr>
        <p:spPr>
          <a:xfrm>
            <a:off x="540233" y="4851202"/>
            <a:ext cx="5471480" cy="1461591"/>
          </a:xfrm>
          <a:prstGeom prst="roundRect">
            <a:avLst>
              <a:gd name="adj" fmla="val 8293"/>
            </a:avLst>
          </a:prstGeom>
          <a:solidFill>
            <a:srgbClr val="8C98CA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708503" y="5001121"/>
            <a:ext cx="5134938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650" dirty="0">
                <a:solidFill>
                  <a:srgbClr val="000000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Facilitador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08503" y="5414070"/>
            <a:ext cx="5134938" cy="509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Adopción estricta de SCRUM para adaptación rápida ante cambios de requerimiento durante el desarrollo.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7575" y="5001121"/>
            <a:ext cx="5228995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r>
              <a:rPr lang="en-US" sz="165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 Riesgo Principal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6307575" y="5414070"/>
            <a:ext cx="5228995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EBECEF"/>
                </a:solidFill>
                <a:latin typeface="Epilogue Bold" pitchFamily="34" charset="0"/>
                <a:ea typeface="Epilogue Bold" pitchFamily="34" charset="-122"/>
                <a:cs typeface="Epilogue Bold" pitchFamily="34" charset="-120"/>
              </a:rPr>
              <a:t>Dependencia de APIs externas.</a:t>
            </a:r>
            <a:endParaRPr lang="en-US" sz="1300" dirty="0"/>
          </a:p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Mitigación: Arquitectura desacoplada que permite reemplazar servicios sin afectar el núcleo del sistema.</a:t>
            </a:r>
            <a:endParaRPr lang="en-US" sz="1300" dirty="0"/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B22DEB0C-5FF2-A145-7E32-B513A326F4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333" y="1497311"/>
            <a:ext cx="11575975" cy="29828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D61CE7B0-DFEB-C969-D03D-21E4B48BB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6852541-32FF-A8DF-DDEB-668DA0E64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251557" cy="6858000"/>
          </a:xfrm>
          <a:prstGeom prst="rect">
            <a:avLst/>
          </a:prstGeom>
        </p:spPr>
      </p:pic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315145"/>
            <a:ext cx="6296860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100" dirty="0">
                <a:solidFill>
                  <a:srgbClr val="FFFFF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¡Muchas gracias por su atención!</a:t>
            </a:r>
            <a:endParaRPr lang="en-US" sz="5100" dirty="0"/>
          </a:p>
        </p:txBody>
      </p:sp>
      <p:sp>
        <p:nvSpPr>
          <p:cNvPr id="4" name="Text 1"/>
          <p:cNvSpPr/>
          <p:nvPr/>
        </p:nvSpPr>
        <p:spPr>
          <a:xfrm>
            <a:off x="5233360" y="3228975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Quedamos a disposición para responder sus preguntas.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3744020"/>
            <a:ext cx="1972915" cy="981273"/>
          </a:xfrm>
          <a:prstGeom prst="roundRect">
            <a:avLst>
              <a:gd name="adj" fmla="val 8090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5428717" y="3939381"/>
            <a:ext cx="158220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Israel Del Pino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7395283" y="3744020"/>
            <a:ext cx="1972915" cy="981273"/>
          </a:xfrm>
          <a:prstGeom prst="roundRect">
            <a:avLst>
              <a:gd name="adj" fmla="val 8090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7590640" y="3939381"/>
            <a:ext cx="158220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Rocío Rodríguez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9557205" y="3744020"/>
            <a:ext cx="1972915" cy="981273"/>
          </a:xfrm>
          <a:prstGeom prst="roundRect">
            <a:avLst>
              <a:gd name="adj" fmla="val 8090"/>
            </a:avLst>
          </a:prstGeom>
          <a:solidFill>
            <a:srgbClr val="283157"/>
          </a:solidFill>
          <a:ln w="6350">
            <a:solidFill>
              <a:srgbClr val="414A7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9752562" y="3939381"/>
            <a:ext cx="158220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EBECEF"/>
                </a:solidFill>
                <a:latin typeface="Fraunces Medium" pitchFamily="34" charset="0"/>
                <a:ea typeface="Fraunces Medium" pitchFamily="34" charset="-122"/>
                <a:cs typeface="Fraunces Medium" pitchFamily="34" charset="-120"/>
              </a:rPr>
              <a:t>Pablo Sepúlveda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5233360" y="493791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EBECEF"/>
                </a:solidFill>
                <a:latin typeface="Epilogue" pitchFamily="34" charset="0"/>
                <a:ea typeface="Epilogue" pitchFamily="34" charset="-122"/>
                <a:cs typeface="Epilogue" pitchFamily="34" charset="-120"/>
              </a:rPr>
              <a:t>Capstone Concepción · Ingeniería en Informática · Duoc UC · 7 de septiembre de 2026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780</Words>
  <Application>Microsoft Office PowerPoint</Application>
  <PresentationFormat>Panorámica</PresentationFormat>
  <Paragraphs>110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Fraunces Medium</vt:lpstr>
      <vt:lpstr>Epilogue</vt:lpstr>
      <vt:lpstr>Arial</vt:lpstr>
      <vt:lpstr>Epilogue Bold</vt:lpstr>
      <vt:lpstr>Twemoji Mozilla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PABLO BENJAMIN SEPULVEDA DAZA</cp:lastModifiedBy>
  <cp:revision>2</cp:revision>
  <dcterms:created xsi:type="dcterms:W3CDTF">2026-09-07T01:03:13Z</dcterms:created>
  <dcterms:modified xsi:type="dcterms:W3CDTF">2026-09-07T01:45:35Z</dcterms:modified>
</cp:coreProperties>
</file>